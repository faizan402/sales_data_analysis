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Bit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473b7793178950b/Desktop/DATA%20ANALYSIS%20RELIANCE%20RETAI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 RELIANCE RETAIL.xlsx]10)MARKETING_ROI (2)!PivotTable2</c:name>
    <c:fmtId val="60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60000"/>
                    <a:satMod val="160000"/>
                  </a:schemeClr>
                </a:gs>
                <a:gs pos="46000">
                  <a:schemeClr val="accent2">
                    <a:tint val="86000"/>
                    <a:satMod val="160000"/>
                  </a:schemeClr>
                </a:gs>
                <a:gs pos="100000">
                  <a:schemeClr val="accent2"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 w="9525">
              <a:solidFill>
                <a:schemeClr val="accent2"/>
              </a:solidFill>
              <a:round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60000"/>
                    <a:satMod val="160000"/>
                  </a:schemeClr>
                </a:gs>
                <a:gs pos="46000">
                  <a:schemeClr val="accent4">
                    <a:tint val="86000"/>
                    <a:satMod val="160000"/>
                  </a:schemeClr>
                </a:gs>
                <a:gs pos="100000">
                  <a:schemeClr val="accent4"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 w="9525">
              <a:solidFill>
                <a:schemeClr val="accent4"/>
              </a:solidFill>
              <a:round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tint val="60000"/>
                    <a:satMod val="160000"/>
                  </a:schemeClr>
                </a:gs>
                <a:gs pos="46000">
                  <a:schemeClr val="accent6">
                    <a:tint val="86000"/>
                    <a:satMod val="160000"/>
                  </a:schemeClr>
                </a:gs>
                <a:gs pos="100000">
                  <a:schemeClr val="accent6"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 w="9525">
              <a:solidFill>
                <a:schemeClr val="accent6"/>
              </a:solidFill>
              <a:round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lumMod val="60000"/>
                    <a:tint val="60000"/>
                    <a:satMod val="160000"/>
                  </a:schemeClr>
                </a:gs>
                <a:gs pos="46000">
                  <a:schemeClr val="accent2">
                    <a:lumMod val="60000"/>
                    <a:tint val="86000"/>
                    <a:satMod val="160000"/>
                  </a:schemeClr>
                </a:gs>
                <a:gs pos="100000">
                  <a:schemeClr val="accent2">
                    <a:lumMod val="60000"/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 w="9525">
              <a:solidFill>
                <a:schemeClr val="accent2">
                  <a:lumMod val="60000"/>
                </a:schemeClr>
              </a:solidFill>
              <a:round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lumMod val="60000"/>
                    <a:tint val="60000"/>
                    <a:satMod val="160000"/>
                  </a:schemeClr>
                </a:gs>
                <a:gs pos="46000">
                  <a:schemeClr val="accent4">
                    <a:lumMod val="60000"/>
                    <a:tint val="86000"/>
                    <a:satMod val="160000"/>
                  </a:schemeClr>
                </a:gs>
                <a:gs pos="100000">
                  <a:schemeClr val="accent4">
                    <a:lumMod val="60000"/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 w="9525">
              <a:solidFill>
                <a:schemeClr val="accent4">
                  <a:lumMod val="60000"/>
                </a:schemeClr>
              </a:solidFill>
              <a:round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lumMod val="60000"/>
                    <a:tint val="60000"/>
                    <a:satMod val="160000"/>
                  </a:schemeClr>
                </a:gs>
                <a:gs pos="46000">
                  <a:schemeClr val="accent6">
                    <a:lumMod val="60000"/>
                    <a:tint val="86000"/>
                    <a:satMod val="160000"/>
                  </a:schemeClr>
                </a:gs>
                <a:gs pos="100000">
                  <a:schemeClr val="accent6">
                    <a:lumMod val="60000"/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 w="9525">
              <a:solidFill>
                <a:schemeClr val="accent6">
                  <a:lumMod val="60000"/>
                </a:schemeClr>
              </a:solidFill>
              <a:round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gradFill rotWithShape="1">
            <a:gsLst>
              <a:gs pos="0">
                <a:schemeClr val="accent2">
                  <a:tint val="60000"/>
                  <a:satMod val="160000"/>
                </a:schemeClr>
              </a:gs>
              <a:gs pos="46000">
                <a:schemeClr val="accent2">
                  <a:tint val="86000"/>
                  <a:satMod val="160000"/>
                </a:schemeClr>
              </a:gs>
              <a:gs pos="100000">
                <a:schemeClr val="accent2">
                  <a:shade val="40000"/>
                  <a:satMod val="160000"/>
                </a:schemeClr>
              </a:gs>
            </a:gsLst>
            <a:path path="circle">
              <a:fillToRect l="50000" t="155000" r="50000" b="-55000"/>
            </a:path>
          </a:gradFill>
          <a:ln>
            <a:noFill/>
          </a:ln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510731784582387"/>
          <c:y val="8.2720424545677046E-2"/>
          <c:w val="0.85941595369697621"/>
          <c:h val="0.7720829113474232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'10)MARKETING_ROI (2)'!$H$7:$H$8</c:f>
              <c:strCache>
                <c:ptCount val="1"/>
                <c:pt idx="0">
                  <c:v>Reliance Digital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0000"/>
                    <a:satMod val="160000"/>
                  </a:schemeClr>
                </a:gs>
                <a:gs pos="46000">
                  <a:schemeClr val="accent2">
                    <a:tint val="86000"/>
                    <a:satMod val="160000"/>
                  </a:schemeClr>
                </a:gs>
                <a:gs pos="100000">
                  <a:schemeClr val="accent2"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>
              <a:noFill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  <c:invertIfNegative val="0"/>
          <c:cat>
            <c:strRef>
              <c:f>'10)MARKETING_ROI (2)'!$G$9:$G$13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'10)MARKETING_ROI (2)'!$H$9:$H$13</c:f>
              <c:numCache>
                <c:formatCode>General</c:formatCode>
                <c:ptCount val="4"/>
                <c:pt idx="0">
                  <c:v>275853330</c:v>
                </c:pt>
                <c:pt idx="1">
                  <c:v>182047951</c:v>
                </c:pt>
                <c:pt idx="2">
                  <c:v>149870553</c:v>
                </c:pt>
                <c:pt idx="3">
                  <c:v>608991769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8-4355-A3F2-D1408D01C088}"/>
            </c:ext>
          </c:extLst>
        </c:ser>
        <c:ser>
          <c:idx val="1"/>
          <c:order val="1"/>
          <c:tx>
            <c:strRef>
              <c:f>'10)MARKETING_ROI (2)'!$I$7:$I$8</c:f>
              <c:strCache>
                <c:ptCount val="1"/>
                <c:pt idx="0">
                  <c:v>Reliance Fresh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60000"/>
                    <a:satMod val="160000"/>
                  </a:schemeClr>
                </a:gs>
                <a:gs pos="46000">
                  <a:schemeClr val="accent4">
                    <a:tint val="86000"/>
                    <a:satMod val="160000"/>
                  </a:schemeClr>
                </a:gs>
                <a:gs pos="100000">
                  <a:schemeClr val="accent4"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>
              <a:noFill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  <c:invertIfNegative val="0"/>
          <c:cat>
            <c:strRef>
              <c:f>'10)MARKETING_ROI (2)'!$G$9:$G$13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'10)MARKETING_ROI (2)'!$I$9:$I$13</c:f>
              <c:numCache>
                <c:formatCode>General</c:formatCode>
                <c:ptCount val="4"/>
                <c:pt idx="0">
                  <c:v>24901776</c:v>
                </c:pt>
                <c:pt idx="1">
                  <c:v>89026994</c:v>
                </c:pt>
                <c:pt idx="3">
                  <c:v>183397542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38-4355-A3F2-D1408D01C088}"/>
            </c:ext>
          </c:extLst>
        </c:ser>
        <c:ser>
          <c:idx val="2"/>
          <c:order val="2"/>
          <c:tx>
            <c:strRef>
              <c:f>'10)MARKETING_ROI (2)'!$J$7:$J$8</c:f>
              <c:strCache>
                <c:ptCount val="1"/>
                <c:pt idx="0">
                  <c:v>Reliance SMART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60000"/>
                    <a:satMod val="160000"/>
                  </a:schemeClr>
                </a:gs>
                <a:gs pos="46000">
                  <a:schemeClr val="accent6">
                    <a:tint val="86000"/>
                    <a:satMod val="160000"/>
                  </a:schemeClr>
                </a:gs>
                <a:gs pos="100000">
                  <a:schemeClr val="accent6"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>
              <a:noFill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  <c:invertIfNegative val="0"/>
          <c:cat>
            <c:strRef>
              <c:f>'10)MARKETING_ROI (2)'!$G$9:$G$13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'10)MARKETING_ROI (2)'!$J$9:$J$13</c:f>
              <c:numCache>
                <c:formatCode>General</c:formatCode>
                <c:ptCount val="4"/>
                <c:pt idx="0">
                  <c:v>106603180</c:v>
                </c:pt>
                <c:pt idx="1">
                  <c:v>103863415</c:v>
                </c:pt>
                <c:pt idx="2">
                  <c:v>124449576</c:v>
                </c:pt>
                <c:pt idx="3">
                  <c:v>488312151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38-4355-A3F2-D1408D01C088}"/>
            </c:ext>
          </c:extLst>
        </c:ser>
        <c:ser>
          <c:idx val="3"/>
          <c:order val="3"/>
          <c:tx>
            <c:strRef>
              <c:f>'10)MARKETING_ROI (2)'!$K$7:$K$8</c:f>
              <c:strCache>
                <c:ptCount val="1"/>
                <c:pt idx="0">
                  <c:v>Reliance Smart Express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tint val="60000"/>
                    <a:satMod val="160000"/>
                  </a:schemeClr>
                </a:gs>
                <a:gs pos="46000">
                  <a:schemeClr val="accent2">
                    <a:lumMod val="60000"/>
                    <a:tint val="86000"/>
                    <a:satMod val="160000"/>
                  </a:schemeClr>
                </a:gs>
                <a:gs pos="100000">
                  <a:schemeClr val="accent2">
                    <a:lumMod val="60000"/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>
              <a:noFill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  <c:invertIfNegative val="0"/>
          <c:cat>
            <c:strRef>
              <c:f>'10)MARKETING_ROI (2)'!$G$9:$G$13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'10)MARKETING_ROI (2)'!$K$9:$K$13</c:f>
              <c:numCache>
                <c:formatCode>General</c:formatCode>
                <c:ptCount val="4"/>
                <c:pt idx="0">
                  <c:v>29483972</c:v>
                </c:pt>
                <c:pt idx="1">
                  <c:v>28076545</c:v>
                </c:pt>
                <c:pt idx="3">
                  <c:v>56390483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38-4355-A3F2-D1408D01C088}"/>
            </c:ext>
          </c:extLst>
        </c:ser>
        <c:ser>
          <c:idx val="4"/>
          <c:order val="4"/>
          <c:tx>
            <c:strRef>
              <c:f>'10)MARKETING_ROI (2)'!$L$7:$L$8</c:f>
              <c:strCache>
                <c:ptCount val="1"/>
                <c:pt idx="0">
                  <c:v>Reliance Trends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tint val="60000"/>
                    <a:satMod val="160000"/>
                  </a:schemeClr>
                </a:gs>
                <a:gs pos="46000">
                  <a:schemeClr val="accent4">
                    <a:lumMod val="60000"/>
                    <a:tint val="86000"/>
                    <a:satMod val="160000"/>
                  </a:schemeClr>
                </a:gs>
                <a:gs pos="100000">
                  <a:schemeClr val="accent4">
                    <a:lumMod val="60000"/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>
              <a:noFill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  <c:invertIfNegative val="0"/>
          <c:cat>
            <c:strRef>
              <c:f>'10)MARKETING_ROI (2)'!$G$9:$G$13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'10)MARKETING_ROI (2)'!$L$9:$L$13</c:f>
              <c:numCache>
                <c:formatCode>General</c:formatCode>
                <c:ptCount val="4"/>
                <c:pt idx="0">
                  <c:v>161965855</c:v>
                </c:pt>
                <c:pt idx="1">
                  <c:v>92979419</c:v>
                </c:pt>
                <c:pt idx="2">
                  <c:v>241874003</c:v>
                </c:pt>
                <c:pt idx="3">
                  <c:v>79846645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38-4355-A3F2-D1408D01C088}"/>
            </c:ext>
          </c:extLst>
        </c:ser>
        <c:ser>
          <c:idx val="5"/>
          <c:order val="5"/>
          <c:tx>
            <c:strRef>
              <c:f>'10)MARKETING_ROI (2)'!$M$7:$M$8</c:f>
              <c:strCache>
                <c:ptCount val="1"/>
                <c:pt idx="0">
                  <c:v>SMART Bazaar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60000"/>
                    <a:tint val="60000"/>
                    <a:satMod val="160000"/>
                  </a:schemeClr>
                </a:gs>
                <a:gs pos="46000">
                  <a:schemeClr val="accent6">
                    <a:lumMod val="60000"/>
                    <a:tint val="86000"/>
                    <a:satMod val="160000"/>
                  </a:schemeClr>
                </a:gs>
                <a:gs pos="100000">
                  <a:schemeClr val="accent6">
                    <a:lumMod val="60000"/>
                    <a:shade val="40000"/>
                    <a:satMod val="160000"/>
                  </a:schemeClr>
                </a:gs>
              </a:gsLst>
              <a:path path="circle">
                <a:fillToRect l="50000" t="155000" r="50000" b="-55000"/>
              </a:path>
            </a:gradFill>
            <a:ln>
              <a:noFill/>
            </a:ln>
            <a:effectLst>
              <a:outerShdw blurRad="53975" dist="41275" dir="14700000" algn="t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3600000"/>
              </a:lightRig>
            </a:scene3d>
            <a:sp3d prstMaterial="plastic">
              <a:bevelT w="127000" h="38200" prst="relaxedInset"/>
            </a:sp3d>
          </c:spPr>
          <c:invertIfNegative val="0"/>
          <c:cat>
            <c:strRef>
              <c:f>'10)MARKETING_ROI (2)'!$G$9:$G$13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'10)MARKETING_ROI (2)'!$M$9:$M$13</c:f>
              <c:numCache>
                <c:formatCode>General</c:formatCode>
                <c:ptCount val="4"/>
                <c:pt idx="0">
                  <c:v>2684533515</c:v>
                </c:pt>
                <c:pt idx="1">
                  <c:v>781210797</c:v>
                </c:pt>
                <c:pt idx="2">
                  <c:v>868601515</c:v>
                </c:pt>
                <c:pt idx="3">
                  <c:v>1858540676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F38-4355-A3F2-D1408D01C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8896063"/>
        <c:axId val="128885503"/>
      </c:barChart>
      <c:catAx>
        <c:axId val="12889606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85503"/>
        <c:crosses val="autoZero"/>
        <c:auto val="1"/>
        <c:lblAlgn val="ctr"/>
        <c:lblOffset val="100"/>
        <c:noMultiLvlLbl val="0"/>
      </c:catAx>
      <c:valAx>
        <c:axId val="1288855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96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843764549673049"/>
          <c:y val="0.27755814377369498"/>
          <c:w val="0.23497778426336258"/>
          <c:h val="0.3731973425994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14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61E69-9ECA-D8CB-4D22-DC1769FEA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2234" y="217251"/>
            <a:ext cx="1352755" cy="607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B5CFA-358D-5DAA-D363-B88FF06D1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136137" y="7409157"/>
            <a:ext cx="1230091" cy="552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3B35A-48E5-A261-9D02-E1F53EEBB7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68868" y="7333985"/>
            <a:ext cx="1397360" cy="6279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1EFD1-94BB-C00A-AC55-02DA28092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98795-C48B-3FA7-25C0-E91BB20CB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FF314-9C26-BAA5-7BB4-78F7D9BAE2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D32D8-E0C0-6C24-E036-0F45A6D091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B3B2F-9E8C-DACC-C0D5-37D57E772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E931F-748B-03B8-6F35-5625325239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2A6BD-057A-F6B4-3145-A731B3613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45843" y="7233757"/>
            <a:ext cx="1620385" cy="72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71479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31500"/>
            <a:ext cx="7210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Sales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3100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Reliance Retail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214" y="6662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Situation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20604" y="1873245"/>
            <a:ext cx="13042821" cy="1120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Sales scale exists, but performance is uneven across formats and regions. Revenue concentration in select formats and regions indicates opportunities for optimization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17426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B3C3E"/>
          </a:solidFill>
          <a:ln/>
        </p:spPr>
      </p:sp>
      <p:sp>
        <p:nvSpPr>
          <p:cNvPr id="5" name="Text 3"/>
          <p:cNvSpPr/>
          <p:nvPr/>
        </p:nvSpPr>
        <p:spPr>
          <a:xfrm>
            <a:off x="1132116" y="3434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2116" y="397518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Quarterly revenue shows significant variation with Q4 reaching ₹294Cr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328474" y="4184240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Regional Differences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8872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Performance varies sharply by region and format type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866948" y="527294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93762" y="5613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Profitability Gap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93762" y="609596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 revenue does not translate to high profitability across all locations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3052" y="508986"/>
            <a:ext cx="6770076" cy="745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Quarterly Revenue Trend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985741" y="1125407"/>
            <a:ext cx="3707749" cy="77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82980" y="1829633"/>
            <a:ext cx="14104620" cy="1245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Q4 shows strong performance with ₹294Cr revenue, while Q2 lagged at ₹197Cr. Q1 and Q3 maintained steady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2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2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performance around ₹210Cr.</a:t>
            </a:r>
          </a:p>
        </p:txBody>
      </p:sp>
      <p:sp>
        <p:nvSpPr>
          <p:cNvPr id="5" name="Text 3"/>
          <p:cNvSpPr/>
          <p:nvPr/>
        </p:nvSpPr>
        <p:spPr>
          <a:xfrm>
            <a:off x="3305889" y="2041446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30" y="3008234"/>
            <a:ext cx="10058400" cy="380618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 4"/>
          <p:cNvSpPr/>
          <p:nvPr/>
        </p:nvSpPr>
        <p:spPr>
          <a:xfrm>
            <a:off x="3305889" y="5362575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305889" y="5569982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305889" y="5777389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305889" y="5984796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05889" y="6192203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05889" y="6399609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05889" y="6607016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05889" y="6814423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05889" y="7021830"/>
            <a:ext cx="8018502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303" y="1002387"/>
            <a:ext cx="7284958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Regional Performance Analysis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3303" y="1913811"/>
            <a:ext cx="7717393" cy="1190982"/>
          </a:xfrm>
          <a:prstGeom prst="roundRect">
            <a:avLst>
              <a:gd name="adj" fmla="val 921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90443" y="1913811"/>
            <a:ext cx="91440" cy="1190982"/>
          </a:xfrm>
          <a:prstGeom prst="roundRect">
            <a:avLst>
              <a:gd name="adj" fmla="val 33433"/>
            </a:avLst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1008459" y="2140387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North Region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8459" y="2568654"/>
            <a:ext cx="719566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Reliance Fresh performs well with strong customer traction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303" y="3287911"/>
            <a:ext cx="7717393" cy="1190982"/>
          </a:xfrm>
          <a:prstGeom prst="roundRect">
            <a:avLst>
              <a:gd name="adj" fmla="val 921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443" y="3287911"/>
            <a:ext cx="91440" cy="1190982"/>
          </a:xfrm>
          <a:prstGeom prst="roundRect">
            <a:avLst>
              <a:gd name="adj" fmla="val 33433"/>
            </a:avLst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1008459" y="3514487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East Region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8459" y="3942755"/>
            <a:ext cx="719566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Smart Bazaar shows strong performance in the region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303" y="4662011"/>
            <a:ext cx="7717393" cy="1190982"/>
          </a:xfrm>
          <a:prstGeom prst="roundRect">
            <a:avLst>
              <a:gd name="adj" fmla="val 921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443" y="4662011"/>
            <a:ext cx="91440" cy="1190982"/>
          </a:xfrm>
          <a:prstGeom prst="roundRect">
            <a:avLst>
              <a:gd name="adj" fmla="val 33433"/>
            </a:avLst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1008459" y="4888587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West Region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8459" y="5316855"/>
            <a:ext cx="719566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Reliance format leads performance with solid revenue generation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3303" y="6036112"/>
            <a:ext cx="7717393" cy="1190982"/>
          </a:xfrm>
          <a:prstGeom prst="roundRect">
            <a:avLst>
              <a:gd name="adj" fmla="val 921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443" y="6036112"/>
            <a:ext cx="91440" cy="1190982"/>
          </a:xfrm>
          <a:prstGeom prst="roundRect">
            <a:avLst>
              <a:gd name="adj" fmla="val 33433"/>
            </a:avLst>
          </a:prstGeom>
          <a:solidFill>
            <a:srgbClr val="9FA58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8459" y="6262688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South Region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08459" y="6690955"/>
            <a:ext cx="719566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Reliance Trends performs well, showing regional strength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68CEB1D-A22A-4CDC-B56B-8A41F4FD97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5646742"/>
              </p:ext>
            </p:extLst>
          </p:nvPr>
        </p:nvGraphicFramePr>
        <p:xfrm>
          <a:off x="1418491" y="2157046"/>
          <a:ext cx="10827949" cy="5134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1B653D-49D4-3573-9826-2ABF64AEA04E}"/>
              </a:ext>
            </a:extLst>
          </p:cNvPr>
          <p:cNvSpPr txBox="1"/>
          <p:nvPr/>
        </p:nvSpPr>
        <p:spPr>
          <a:xfrm>
            <a:off x="4161692" y="832338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</a:rPr>
              <a:t>Regional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40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6155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vs Profitability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23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Disconnect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04498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 revenue does not mean high profitability. Net margin varies sharply by region and format.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97279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Operating costs and management effectiveness are diluting profit margins despite strong top-line performance.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1769"/>
            <a:ext cx="7573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Drives Sales Variation?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274"/>
            <a:ext cx="495776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Analytical Evidence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59175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+4.09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4623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Count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1397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correlation with customer traffic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59175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+6.58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4623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Staff Productivity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511397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correlation with employee efficiency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359175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+1.98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4623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Revenue/Sqft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511397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correlation with space utilization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0949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Effectiveness, not spend, is the issue.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Staff productivity shows the strongest correlation with revenue generation.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0153"/>
            <a:ext cx="58540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Root Causes Identified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019657"/>
            <a:ext cx="72325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Operational, Not Demand-Related</a:t>
            </a:r>
            <a:endParaRPr lang="en-US" sz="3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26794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3153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Low Space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54674" y="364402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Underutilized floor area limiting revenue potential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87679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4514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Excess HR Cost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54674" y="500491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 operating costs diluting profits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48563"/>
            <a:ext cx="1134070" cy="13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5875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Weak Management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154674" y="636579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Regional drag due to unmanaged seasonality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6739"/>
            <a:ext cx="61794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Operational Challenges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9147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906441"/>
            <a:ext cx="31751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Seasonality Unmanaged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39685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Q2 doesn't perform well compared to Q1, Q3, and Q4. Gross margin relatively stable.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49147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 Operating Costs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39685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Operating costs dilute profits despite stable gross margins.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49147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906441"/>
            <a:ext cx="33605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Low ROI Marketing Spend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39685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Marketing spend in some formats shows low return on investment.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4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Strategic Resolution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3192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Actions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9390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29410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46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Reduce HR Costs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5882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Lower HR cost by 5% through optimization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9390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29410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46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Optimize Logistics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395882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Reduce transportation cost by 3%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9390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29410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46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Boost Revenue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395882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Increase revenue in Reliance Fresh and Smart Express by 6%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0814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436513"/>
            <a:ext cx="6407944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6108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Focus on High Margin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0123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Apparel and personal care should be increased further for more profit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0814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436513"/>
            <a:ext cx="6407944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6108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Improve Weak Stores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10123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West and North show loss-making or weak stores requiring improvement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83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767245"/>
            <a:ext cx="3664744" cy="2940010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</p:sp>
      <p:sp>
        <p:nvSpPr>
          <p:cNvPr id="5" name="Shape 2"/>
          <p:cNvSpPr/>
          <p:nvPr/>
        </p:nvSpPr>
        <p:spPr>
          <a:xfrm>
            <a:off x="6507004" y="19940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4170" y="2181106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7004" y="2901315"/>
            <a:ext cx="3019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Operational Excellence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07004" y="3391733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 on effectiveness over spend to drive profitability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1748" y="1767245"/>
            <a:ext cx="3664863" cy="2940010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</p:sp>
      <p:sp>
        <p:nvSpPr>
          <p:cNvPr id="10" name="Shape 6"/>
          <p:cNvSpPr/>
          <p:nvPr/>
        </p:nvSpPr>
        <p:spPr>
          <a:xfrm>
            <a:off x="10398562" y="19940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5728" y="2181106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98562" y="2901315"/>
            <a:ext cx="31582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High-Margin Categories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398562" y="339173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Apparel and personal care need increased focus for higher profits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80190" y="4934069"/>
            <a:ext cx="7556421" cy="2240454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</p:sp>
      <p:sp>
        <p:nvSpPr>
          <p:cNvPr id="15" name="Shape 10"/>
          <p:cNvSpPr/>
          <p:nvPr/>
        </p:nvSpPr>
        <p:spPr>
          <a:xfrm>
            <a:off x="6355955" y="50078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1115" y="5194994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47225" y="5822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Cost Optimization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507003" y="623554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Reduce HR and transportation costs while improving store performance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427</Words>
  <Application>Microsoft Office PowerPoint</Application>
  <PresentationFormat>Custom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Outfit Bold</vt:lpstr>
      <vt:lpstr>Outfit Light</vt:lpstr>
      <vt:lpstr>Bitter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gulnaaz shaikh</dc:creator>
  <cp:lastModifiedBy>ayesha shaikh</cp:lastModifiedBy>
  <cp:revision>2</cp:revision>
  <dcterms:created xsi:type="dcterms:W3CDTF">2026-03-18T07:57:12Z</dcterms:created>
  <dcterms:modified xsi:type="dcterms:W3CDTF">2026-03-18T08:28:04Z</dcterms:modified>
</cp:coreProperties>
</file>